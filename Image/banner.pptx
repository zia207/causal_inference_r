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5.png" ContentType="image/png"/>
  <Override PartName="/ppt/media/image4.png" ContentType="image/png"/>
  <Override PartName="/ppt/media/image27.png" ContentType="image/png"/>
  <Override PartName="/ppt/media/image3.png" ContentType="image/png"/>
  <Override PartName="/ppt/media/image26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4.png" ContentType="image/png"/>
  <Override PartName="/ppt/media/image2.png" ContentType="image/png"/>
  <Override PartName="/ppt/media/image25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0058400" cy="32004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C82C087-EF29-4EF6-83CE-F5A0913C76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2920" y="81720"/>
            <a:ext cx="90522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2920" y="748800"/>
            <a:ext cx="9052200" cy="185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97557BB-310B-4298-9EE5-03E477A331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2920" y="81720"/>
            <a:ext cx="90522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2920" y="748800"/>
            <a:ext cx="9052200" cy="185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31686FD-B259-45FC-8762-A05EE6663C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2920" y="81720"/>
            <a:ext cx="90522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2920" y="748800"/>
            <a:ext cx="4417200" cy="185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41520" y="748800"/>
            <a:ext cx="4417200" cy="185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B712E5A-9A7F-4E15-B225-5276EECD78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2920" y="81720"/>
            <a:ext cx="90522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8066A9F-D67A-4AD1-9EEE-FD273E0537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2920" y="127440"/>
            <a:ext cx="9052200" cy="247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1F88E12-70BC-4FEB-8791-BAC677D9BC4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2920" y="81720"/>
            <a:ext cx="90522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2920" y="748800"/>
            <a:ext cx="4417200" cy="8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41520" y="748800"/>
            <a:ext cx="4417200" cy="185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2920" y="1718280"/>
            <a:ext cx="4417200" cy="8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774863B-2DC2-4E4E-B0D3-CD39E2B398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2920" y="81720"/>
            <a:ext cx="90522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2920" y="748800"/>
            <a:ext cx="4417200" cy="185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41520" y="748800"/>
            <a:ext cx="4417200" cy="8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41520" y="1718280"/>
            <a:ext cx="4417200" cy="8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020CCCD-3445-4F1F-BBDE-AAD967E4C4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2920" y="81720"/>
            <a:ext cx="90522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2920" y="748800"/>
            <a:ext cx="4417200" cy="8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41520" y="748800"/>
            <a:ext cx="4417200" cy="8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2920" y="1718280"/>
            <a:ext cx="9052200" cy="8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E21B407-516F-4232-8CD2-974F4211CC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2920" y="81720"/>
            <a:ext cx="90522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2920" y="748800"/>
            <a:ext cx="9052200" cy="8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2920" y="1718280"/>
            <a:ext cx="9052200" cy="8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CD85838-EC9B-4B2D-9128-0D8157F434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2920" y="81720"/>
            <a:ext cx="90522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2920" y="748800"/>
            <a:ext cx="4417200" cy="8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41520" y="748800"/>
            <a:ext cx="4417200" cy="8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2920" y="1718280"/>
            <a:ext cx="4417200" cy="8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41520" y="1718280"/>
            <a:ext cx="4417200" cy="8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51F6BC3-009C-473F-B405-DEE9DE713E4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2920" y="81720"/>
            <a:ext cx="90522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2920" y="748800"/>
            <a:ext cx="2914560" cy="8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63640" y="748800"/>
            <a:ext cx="2914560" cy="8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24360" y="748800"/>
            <a:ext cx="2914560" cy="8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2920" y="1718280"/>
            <a:ext cx="2914560" cy="8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63640" y="1718280"/>
            <a:ext cx="2914560" cy="8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24360" y="1718280"/>
            <a:ext cx="2914560" cy="8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EF84817-C4B8-4F1E-901D-FB229BE3CA2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331440" y="2966040"/>
            <a:ext cx="3391920" cy="168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103520" y="2966040"/>
            <a:ext cx="2260440" cy="168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48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6857AF3-8994-42BF-82BA-AD283436C9B1}" type="slidenum">
              <a:rPr b="0" lang="en-US" sz="48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48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691200" y="2966040"/>
            <a:ext cx="2260440" cy="168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2920" y="127440"/>
            <a:ext cx="905220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2920" y="748800"/>
            <a:ext cx="9052200" cy="185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7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28200" y="1000080"/>
            <a:ext cx="9201960" cy="150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2e75b6"/>
                </a:solidFill>
                <a:latin typeface="Calibri Light"/>
              </a:rPr>
              <a:t>Tree-Based Models in R:</a:t>
            </a:r>
            <a:br>
              <a:rPr sz="3200"/>
            </a:br>
            <a:r>
              <a:rPr b="0" lang="en-US" sz="3200" spc="-1" strike="noStrike">
                <a:solidFill>
                  <a:srgbClr val="2e75b6"/>
                </a:solidFill>
                <a:latin typeface="Calibri Light"/>
              </a:rPr>
              <a:t> </a:t>
            </a:r>
            <a:r>
              <a:rPr b="0" lang="en-US" sz="2000" spc="-1" strike="noStrike">
                <a:solidFill>
                  <a:srgbClr val="2e75b6"/>
                </a:solidFill>
                <a:latin typeface="Calibri Light"/>
              </a:rPr>
              <a:t>From Decision  to Boosted Trees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42" name="Picture 7" descr="A close-up of a sign&#10;&#10;Description automatically generated"/>
          <p:cNvPicPr/>
          <p:nvPr/>
        </p:nvPicPr>
        <p:blipFill>
          <a:blip r:embed="rId1">
            <a:alphaModFix amt="63000"/>
          </a:blip>
          <a:stretch/>
        </p:blipFill>
        <p:spPr>
          <a:xfrm>
            <a:off x="159120" y="174240"/>
            <a:ext cx="2810880" cy="509400"/>
          </a:xfrm>
          <a:prstGeom prst="rect">
            <a:avLst/>
          </a:prstGeom>
          <a:ln w="0">
            <a:noFill/>
          </a:ln>
        </p:spPr>
      </p:pic>
      <p:sp>
        <p:nvSpPr>
          <p:cNvPr id="43" name="Straight Connector 4"/>
          <p:cNvSpPr/>
          <p:nvPr/>
        </p:nvSpPr>
        <p:spPr>
          <a:xfrm>
            <a:off x="455040" y="1227600"/>
            <a:ext cx="5760" cy="1259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4" name="Picture 10" descr=""/>
          <p:cNvPicPr/>
          <p:nvPr/>
        </p:nvPicPr>
        <p:blipFill>
          <a:blip r:embed="rId2">
            <a:alphaModFix amt="63000"/>
          </a:blip>
          <a:stretch/>
        </p:blipFill>
        <p:spPr>
          <a:xfrm>
            <a:off x="0" y="0"/>
            <a:ext cx="3655800" cy="3239280"/>
          </a:xfrm>
          <a:prstGeom prst="rect">
            <a:avLst/>
          </a:prstGeom>
          <a:ln w="0">
            <a:noFill/>
          </a:ln>
          <a:effectLst>
            <a:softEdge rad="112680"/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28200" y="1000080"/>
            <a:ext cx="9201960" cy="150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2e75b6"/>
                </a:solidFill>
                <a:latin typeface="Calibri Light"/>
              </a:rPr>
              <a:t>Tree-Based Models in Python</a:t>
            </a:r>
            <a:r>
              <a:rPr b="0" lang="en-US" sz="6000" spc="-1" strike="noStrike">
                <a:solidFill>
                  <a:srgbClr val="2e75b6"/>
                </a:solidFill>
                <a:latin typeface="Calibri Light"/>
              </a:rPr>
              <a:t>:</a:t>
            </a:r>
            <a:br>
              <a:rPr sz="3200"/>
            </a:br>
            <a:r>
              <a:rPr b="0" lang="en-US" sz="3200" spc="-1" strike="noStrike">
                <a:solidFill>
                  <a:srgbClr val="2e75b6"/>
                </a:solidFill>
                <a:latin typeface="Calibri Light"/>
              </a:rPr>
              <a:t> </a:t>
            </a:r>
            <a:r>
              <a:rPr b="0" lang="en-US" sz="2000" spc="-1" strike="noStrike">
                <a:solidFill>
                  <a:srgbClr val="2e75b6"/>
                </a:solidFill>
                <a:latin typeface="Calibri Light"/>
              </a:rPr>
              <a:t>From Decision  to Boosted Trees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46" name="Picture 4" descr="A close-up of a sign&#10;&#10;Description automatically generated"/>
          <p:cNvPicPr/>
          <p:nvPr/>
        </p:nvPicPr>
        <p:blipFill>
          <a:blip r:embed="rId1">
            <a:alphaModFix amt="63000"/>
          </a:blip>
          <a:stretch/>
        </p:blipFill>
        <p:spPr>
          <a:xfrm>
            <a:off x="159120" y="174240"/>
            <a:ext cx="2810880" cy="509400"/>
          </a:xfrm>
          <a:prstGeom prst="rect">
            <a:avLst/>
          </a:prstGeom>
          <a:ln w="0">
            <a:noFill/>
          </a:ln>
        </p:spPr>
      </p:pic>
      <p:sp>
        <p:nvSpPr>
          <p:cNvPr id="47" name="Straight Connector 5"/>
          <p:cNvSpPr/>
          <p:nvPr/>
        </p:nvSpPr>
        <p:spPr>
          <a:xfrm>
            <a:off x="455040" y="1227600"/>
            <a:ext cx="5760" cy="1259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8" name="Picture 9" descr=""/>
          <p:cNvPicPr/>
          <p:nvPr/>
        </p:nvPicPr>
        <p:blipFill>
          <a:blip r:embed="rId2">
            <a:alphaModFix amt="63000"/>
          </a:blip>
          <a:stretch/>
        </p:blipFill>
        <p:spPr>
          <a:xfrm>
            <a:off x="0" y="-40680"/>
            <a:ext cx="3655800" cy="3239280"/>
          </a:xfrm>
          <a:prstGeom prst="rect">
            <a:avLst/>
          </a:prstGeom>
          <a:ln w="0">
            <a:noFill/>
          </a:ln>
          <a:effectLst>
            <a:softEdge rad="112680"/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5" descr=""/>
          <p:cNvPicPr/>
          <p:nvPr/>
        </p:nvPicPr>
        <p:blipFill>
          <a:blip r:embed="rId1">
            <a:alphaModFix amt="63000"/>
          </a:blip>
          <a:stretch/>
        </p:blipFill>
        <p:spPr>
          <a:xfrm>
            <a:off x="0" y="-6480"/>
            <a:ext cx="4276800" cy="3204720"/>
          </a:xfrm>
          <a:prstGeom prst="rect">
            <a:avLst/>
          </a:prstGeom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28200" y="1000080"/>
            <a:ext cx="9201960" cy="150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2e75b6"/>
                </a:solidFill>
                <a:latin typeface="Calibri Light"/>
              </a:rPr>
              <a:t>Survival Analysis in R:</a:t>
            </a:r>
            <a:br>
              <a:rPr sz="3200"/>
            </a:br>
            <a:r>
              <a:rPr b="0" lang="en-US" sz="3200" spc="-1" strike="noStrike">
                <a:solidFill>
                  <a:srgbClr val="2e75b6"/>
                </a:solidFill>
                <a:latin typeface="Calibri Light"/>
              </a:rPr>
              <a:t> </a:t>
            </a:r>
            <a:r>
              <a:rPr b="0" lang="en-US" sz="2000" spc="-1" strike="noStrike">
                <a:solidFill>
                  <a:srgbClr val="2e75b6"/>
                </a:solidFill>
                <a:latin typeface="Calibri Light"/>
              </a:rPr>
              <a:t>From Simple Methods to Machine Learning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51" name="Picture 6" descr="A close-up of a sign&#10;&#10;Description automatically generated"/>
          <p:cNvPicPr/>
          <p:nvPr/>
        </p:nvPicPr>
        <p:blipFill>
          <a:blip r:embed="rId2">
            <a:alphaModFix amt="63000"/>
          </a:blip>
          <a:stretch/>
        </p:blipFill>
        <p:spPr>
          <a:xfrm>
            <a:off x="0" y="174240"/>
            <a:ext cx="2810880" cy="509400"/>
          </a:xfrm>
          <a:prstGeom prst="rect">
            <a:avLst/>
          </a:prstGeom>
          <a:ln w="0">
            <a:noFill/>
          </a:ln>
        </p:spPr>
      </p:pic>
      <p:sp>
        <p:nvSpPr>
          <p:cNvPr id="52" name="Straight Connector 3"/>
          <p:cNvSpPr/>
          <p:nvPr/>
        </p:nvSpPr>
        <p:spPr>
          <a:xfrm>
            <a:off x="455040" y="1227600"/>
            <a:ext cx="5760" cy="1259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1" descr=""/>
          <p:cNvPicPr/>
          <p:nvPr/>
        </p:nvPicPr>
        <p:blipFill>
          <a:blip r:embed="rId1">
            <a:alphaModFix amt="63000"/>
          </a:blip>
          <a:stretch/>
        </p:blipFill>
        <p:spPr>
          <a:xfrm>
            <a:off x="0" y="-6480"/>
            <a:ext cx="4276800" cy="3204720"/>
          </a:xfrm>
          <a:prstGeom prst="rect">
            <a:avLst/>
          </a:prstGeom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28200" y="1000080"/>
            <a:ext cx="9201960" cy="150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2e75b6"/>
                </a:solidFill>
                <a:latin typeface="Calibri Light"/>
              </a:rPr>
              <a:t>Survival Analysis in Python</a:t>
            </a:r>
            <a:r>
              <a:rPr b="0" lang="en-US" sz="6000" spc="-1" strike="noStrike">
                <a:solidFill>
                  <a:srgbClr val="2e75b6"/>
                </a:solidFill>
                <a:latin typeface="Calibri Light"/>
              </a:rPr>
              <a:t>:</a:t>
            </a:r>
            <a:br>
              <a:rPr sz="3200"/>
            </a:br>
            <a:r>
              <a:rPr b="0" lang="en-US" sz="3200" spc="-1" strike="noStrike">
                <a:solidFill>
                  <a:srgbClr val="2e75b6"/>
                </a:solidFill>
                <a:latin typeface="Calibri Light"/>
              </a:rPr>
              <a:t> </a:t>
            </a:r>
            <a:r>
              <a:rPr b="0" lang="en-US" sz="2000" spc="-1" strike="noStrike">
                <a:solidFill>
                  <a:srgbClr val="2e75b6"/>
                </a:solidFill>
                <a:latin typeface="Calibri Light"/>
              </a:rPr>
              <a:t>From Simple Methods to Machine Learning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55" name="Picture 2" descr="A close-up of a sign&#10;&#10;Description automatically generated"/>
          <p:cNvPicPr/>
          <p:nvPr/>
        </p:nvPicPr>
        <p:blipFill>
          <a:blip r:embed="rId2">
            <a:alphaModFix amt="63000"/>
          </a:blip>
          <a:stretch/>
        </p:blipFill>
        <p:spPr>
          <a:xfrm>
            <a:off x="0" y="174240"/>
            <a:ext cx="2810880" cy="509400"/>
          </a:xfrm>
          <a:prstGeom prst="rect">
            <a:avLst/>
          </a:prstGeom>
          <a:ln w="0">
            <a:noFill/>
          </a:ln>
        </p:spPr>
      </p:pic>
      <p:sp>
        <p:nvSpPr>
          <p:cNvPr id="56" name="Straight Connector 1"/>
          <p:cNvSpPr/>
          <p:nvPr/>
        </p:nvSpPr>
        <p:spPr>
          <a:xfrm>
            <a:off x="455040" y="1227600"/>
            <a:ext cx="5760" cy="1259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" descr=""/>
          <p:cNvPicPr/>
          <p:nvPr/>
        </p:nvPicPr>
        <p:blipFill>
          <a:blip r:embed="rId1">
            <a:alphaModFix amt="63000"/>
          </a:blip>
          <a:stretch/>
        </p:blipFill>
        <p:spPr>
          <a:xfrm>
            <a:off x="0" y="-6840"/>
            <a:ext cx="4276800" cy="3204720"/>
          </a:xfrm>
          <a:prstGeom prst="rect">
            <a:avLst/>
          </a:prstGeom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75200" y="973800"/>
            <a:ext cx="7050600" cy="150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2e75b6"/>
                </a:solidFill>
                <a:latin typeface="Calibri Light"/>
              </a:rPr>
              <a:t>Survival Analysis in Python</a:t>
            </a:r>
            <a:r>
              <a:rPr b="0" lang="en-US" sz="2800" spc="-1" strike="noStrike">
                <a:solidFill>
                  <a:srgbClr val="2e75b6"/>
                </a:solidFill>
                <a:latin typeface="Calibri Light"/>
              </a:rPr>
              <a:t>:</a:t>
            </a:r>
            <a:br>
              <a:rPr sz="3200"/>
            </a:br>
            <a:r>
              <a:rPr b="0" lang="en-US" sz="3200" spc="-1" strike="noStrike">
                <a:solidFill>
                  <a:srgbClr val="2e75b6"/>
                </a:solidFill>
                <a:latin typeface="Calibri Light"/>
              </a:rPr>
              <a:t> </a:t>
            </a:r>
            <a:r>
              <a:rPr b="0" lang="en-US" sz="2000" spc="-1" strike="noStrike">
                <a:solidFill>
                  <a:srgbClr val="2e75b6"/>
                </a:solidFill>
                <a:latin typeface="Calibri Light"/>
              </a:rPr>
              <a:t>From Simple Methods to Machine Learning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59" name="Picture 6" descr="A close-up of a sign&#10;&#10;Description automatically generated"/>
          <p:cNvPicPr/>
          <p:nvPr/>
        </p:nvPicPr>
        <p:blipFill>
          <a:blip r:embed="rId2">
            <a:alphaModFix amt="63000"/>
          </a:blip>
          <a:stretch/>
        </p:blipFill>
        <p:spPr>
          <a:xfrm>
            <a:off x="187920" y="92160"/>
            <a:ext cx="2669400" cy="483120"/>
          </a:xfrm>
          <a:prstGeom prst="rect">
            <a:avLst/>
          </a:prstGeom>
          <a:ln w="0">
            <a:noFill/>
          </a:ln>
        </p:spPr>
      </p:pic>
      <p:sp>
        <p:nvSpPr>
          <p:cNvPr id="60" name="TextBox 7"/>
          <p:cNvSpPr/>
          <p:nvPr/>
        </p:nvSpPr>
        <p:spPr>
          <a:xfrm>
            <a:off x="7612200" y="2724480"/>
            <a:ext cx="2378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2e75b6"/>
                </a:solidFill>
                <a:latin typeface="Calibri"/>
                <a:ea typeface="DejaVu Sans"/>
              </a:rPr>
              <a:t>Zia Ahmed PhD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61" name="Picture 3" descr="A graph with blue and yellow text&#10;&#10;Description automatically generated"/>
          <p:cNvPicPr/>
          <p:nvPr/>
        </p:nvPicPr>
        <p:blipFill>
          <a:blip r:embed="rId3">
            <a:alphaModFix amt="63000"/>
          </a:blip>
          <a:stretch/>
        </p:blipFill>
        <p:spPr>
          <a:xfrm>
            <a:off x="7858080" y="435960"/>
            <a:ext cx="2009160" cy="1704240"/>
          </a:xfrm>
          <a:prstGeom prst="rect">
            <a:avLst/>
          </a:prstGeom>
          <a:ln w="0">
            <a:noFill/>
          </a:ln>
        </p:spPr>
      </p:pic>
      <p:sp>
        <p:nvSpPr>
          <p:cNvPr id="62" name="Straight Connector 2"/>
          <p:cNvSpPr/>
          <p:nvPr/>
        </p:nvSpPr>
        <p:spPr>
          <a:xfrm>
            <a:off x="307440" y="1023120"/>
            <a:ext cx="360" cy="1102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140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84920" y="846720"/>
            <a:ext cx="6240600" cy="14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2e75b6"/>
                </a:solidFill>
                <a:latin typeface="Calibri Light"/>
              </a:rPr>
              <a:t>Generalized Linear Models (GLMs) in R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64" name="Picture 6" descr="A close-up of a sign&#10;&#10;Description automatically generated"/>
          <p:cNvPicPr/>
          <p:nvPr/>
        </p:nvPicPr>
        <p:blipFill>
          <a:blip r:embed="rId1">
            <a:alphaModFix amt="63000"/>
          </a:blip>
          <a:stretch/>
        </p:blipFill>
        <p:spPr>
          <a:xfrm>
            <a:off x="150480" y="2686320"/>
            <a:ext cx="2669400" cy="483120"/>
          </a:xfrm>
          <a:prstGeom prst="rect">
            <a:avLst/>
          </a:prstGeom>
          <a:ln w="0">
            <a:noFill/>
          </a:ln>
        </p:spPr>
      </p:pic>
      <p:sp>
        <p:nvSpPr>
          <p:cNvPr id="65" name="TextBox 7"/>
          <p:cNvSpPr/>
          <p:nvPr/>
        </p:nvSpPr>
        <p:spPr>
          <a:xfrm>
            <a:off x="7612200" y="2724480"/>
            <a:ext cx="2378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Zia Ahmed PhD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6" name="Straight Connector 2"/>
          <p:cNvSpPr/>
          <p:nvPr/>
        </p:nvSpPr>
        <p:spPr>
          <a:xfrm>
            <a:off x="312840" y="857160"/>
            <a:ext cx="360" cy="1102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140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92480" y="737280"/>
            <a:ext cx="6783840" cy="150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2e75b6"/>
                </a:solidFill>
                <a:latin typeface="Calibri Light"/>
              </a:rPr>
              <a:t>Generalized Linear Models (GLMs) in Python:</a:t>
            </a:r>
            <a:br>
              <a:rPr sz="3600"/>
            </a:br>
            <a:r>
              <a:rPr b="0" lang="en-US" sz="2000" spc="-1" strike="noStrike">
                <a:solidFill>
                  <a:srgbClr val="000000"/>
                </a:solidFill>
                <a:latin typeface="Calibri Light"/>
              </a:rPr>
              <a:t>Theory, Implementation, and Applications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68" name="Picture 6" descr="A close-up of a sign&#10;&#10;Description automatically generated"/>
          <p:cNvPicPr/>
          <p:nvPr/>
        </p:nvPicPr>
        <p:blipFill>
          <a:blip r:embed="rId1">
            <a:alphaModFix amt="63000"/>
          </a:blip>
          <a:stretch/>
        </p:blipFill>
        <p:spPr>
          <a:xfrm>
            <a:off x="150480" y="2686320"/>
            <a:ext cx="2669400" cy="483120"/>
          </a:xfrm>
          <a:prstGeom prst="rect">
            <a:avLst/>
          </a:prstGeom>
          <a:ln w="0">
            <a:noFill/>
          </a:ln>
        </p:spPr>
      </p:pic>
      <p:sp>
        <p:nvSpPr>
          <p:cNvPr id="69" name="TextBox 7"/>
          <p:cNvSpPr/>
          <p:nvPr/>
        </p:nvSpPr>
        <p:spPr>
          <a:xfrm>
            <a:off x="7612200" y="2724480"/>
            <a:ext cx="2378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Zia Ahmed PhD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0" name="Straight Connector 2"/>
          <p:cNvSpPr/>
          <p:nvPr/>
        </p:nvSpPr>
        <p:spPr>
          <a:xfrm>
            <a:off x="317880" y="631800"/>
            <a:ext cx="360" cy="1290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140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1" name="Picture 5" descr="A close-up of a logo&#10;&#10;Description automatically generated"/>
          <p:cNvPicPr/>
          <p:nvPr/>
        </p:nvPicPr>
        <p:blipFill>
          <a:blip r:embed="rId2">
            <a:alphaModFix amt="63000"/>
          </a:blip>
          <a:stretch/>
        </p:blipFill>
        <p:spPr>
          <a:xfrm>
            <a:off x="7545240" y="0"/>
            <a:ext cx="2512080" cy="2131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84920" y="846720"/>
            <a:ext cx="6240600" cy="14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2e75b6"/>
                </a:solidFill>
                <a:latin typeface="Calibri Light"/>
              </a:rPr>
              <a:t>Generalized Linear Models (GLMs) in R:</a:t>
            </a:r>
            <a:br>
              <a:rPr sz="3600"/>
            </a:br>
            <a:r>
              <a:rPr b="0" lang="en-US" sz="2000" spc="-1" strike="noStrike">
                <a:solidFill>
                  <a:srgbClr val="000000"/>
                </a:solidFill>
                <a:latin typeface="Calibri Light"/>
              </a:rPr>
              <a:t>Theory, Implementation, and Applications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73" name="Picture 6" descr="A close-up of a sign&#10;&#10;Description automatically generated"/>
          <p:cNvPicPr/>
          <p:nvPr/>
        </p:nvPicPr>
        <p:blipFill>
          <a:blip r:embed="rId1">
            <a:alphaModFix amt="63000"/>
          </a:blip>
          <a:stretch/>
        </p:blipFill>
        <p:spPr>
          <a:xfrm>
            <a:off x="150480" y="2686320"/>
            <a:ext cx="2669400" cy="483120"/>
          </a:xfrm>
          <a:prstGeom prst="rect">
            <a:avLst/>
          </a:prstGeom>
          <a:ln w="0">
            <a:noFill/>
          </a:ln>
        </p:spPr>
      </p:pic>
      <p:sp>
        <p:nvSpPr>
          <p:cNvPr id="74" name="TextBox 7"/>
          <p:cNvSpPr/>
          <p:nvPr/>
        </p:nvSpPr>
        <p:spPr>
          <a:xfrm>
            <a:off x="7612200" y="2724480"/>
            <a:ext cx="2378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Zia Ahmed PhD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5" name="Straight Connector 2"/>
          <p:cNvSpPr/>
          <p:nvPr/>
        </p:nvSpPr>
        <p:spPr>
          <a:xfrm>
            <a:off x="312840" y="774000"/>
            <a:ext cx="360" cy="1185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140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6" name="Picture 8" descr="A logo of a company&#10;&#10;Description automatically generated"/>
          <p:cNvPicPr/>
          <p:nvPr/>
        </p:nvPicPr>
        <p:blipFill>
          <a:blip r:embed="rId2">
            <a:alphaModFix amt="63000"/>
          </a:blip>
          <a:stretch/>
        </p:blipFill>
        <p:spPr>
          <a:xfrm>
            <a:off x="7671960" y="0"/>
            <a:ext cx="2512080" cy="2131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2192400" y="1022400"/>
            <a:ext cx="7335360" cy="173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005bbb"/>
                </a:solidFill>
                <a:latin typeface="Calibri Light"/>
                <a:ea typeface="DejaVu Sans"/>
              </a:rPr>
              <a:t>Causal Inference in R</a:t>
            </a:r>
            <a:r>
              <a:rPr b="0" lang="en-US" sz="4800" spc="-1" strike="noStrike">
                <a:solidFill>
                  <a:srgbClr val="2e75b6"/>
                </a:solidFill>
                <a:latin typeface="Calibri Light"/>
                <a:ea typeface="DejaVu Sans"/>
              </a:rPr>
              <a:t>:</a:t>
            </a:r>
            <a:br>
              <a:rPr sz="3200"/>
            </a:br>
            <a:r>
              <a:rPr b="0" lang="en-US" sz="3200" spc="-1" strike="noStrike">
                <a:solidFill>
                  <a:srgbClr val="2e75b6"/>
                </a:solidFill>
                <a:latin typeface="Calibri Light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2e75b6"/>
                </a:solidFill>
                <a:latin typeface="Calibri Light"/>
                <a:ea typeface="DejaVu Sans"/>
              </a:rPr>
              <a:t>From Theory to Practice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78" name="Straight Connector 7"/>
          <p:cNvSpPr/>
          <p:nvPr/>
        </p:nvSpPr>
        <p:spPr>
          <a:xfrm>
            <a:off x="1870200" y="1215000"/>
            <a:ext cx="5760" cy="1259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9" name="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228600" y="1151280"/>
            <a:ext cx="1598400" cy="159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2192400" y="1022400"/>
            <a:ext cx="7335360" cy="173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005bbb"/>
                </a:solidFill>
                <a:latin typeface="Calibri Light"/>
                <a:ea typeface="DejaVu Sans"/>
              </a:rPr>
              <a:t>Causal Inference in R</a:t>
            </a:r>
            <a:br>
              <a:rPr sz="3200"/>
            </a:br>
            <a:r>
              <a:rPr b="0" lang="en-US" sz="3200" spc="-1" strike="noStrike">
                <a:solidFill>
                  <a:srgbClr val="2e75b6"/>
                </a:solidFill>
                <a:latin typeface="Calibri Light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2e75b6"/>
                </a:solidFill>
                <a:latin typeface="Calibri Light"/>
                <a:ea typeface="DejaVu Sans"/>
              </a:rPr>
              <a:t>Randomized Controlled Trials (RCTs)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1" name="Straight Connector 6"/>
          <p:cNvSpPr/>
          <p:nvPr/>
        </p:nvSpPr>
        <p:spPr>
          <a:xfrm>
            <a:off x="1870200" y="1215000"/>
            <a:ext cx="5760" cy="1259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82" name="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228600" y="1151280"/>
            <a:ext cx="1598400" cy="159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2192400" y="1022400"/>
            <a:ext cx="7335360" cy="173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005bbb"/>
                </a:solidFill>
                <a:latin typeface="Calibri Light"/>
                <a:ea typeface="DejaVu Sans"/>
              </a:rPr>
              <a:t>Causal Inference in R</a:t>
            </a:r>
            <a:br>
              <a:rPr sz="3200"/>
            </a:br>
            <a:r>
              <a:rPr b="0" lang="en-US" sz="3200" spc="-1" strike="noStrike">
                <a:solidFill>
                  <a:srgbClr val="2e75b6"/>
                </a:solidFill>
                <a:latin typeface="Calibri Light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2e75b6"/>
                </a:solidFill>
                <a:latin typeface="Calibri Light"/>
                <a:ea typeface="DejaVu Sans"/>
              </a:rPr>
              <a:t>Directed Acyclic Graphs (DAGs)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4" name="Straight Connector 8"/>
          <p:cNvSpPr/>
          <p:nvPr/>
        </p:nvSpPr>
        <p:spPr>
          <a:xfrm>
            <a:off x="1870200" y="1215000"/>
            <a:ext cx="5760" cy="1259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85" name="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228600" y="1151280"/>
            <a:ext cx="1598400" cy="159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2192400" y="1022400"/>
            <a:ext cx="7335360" cy="173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005bbb"/>
                </a:solidFill>
                <a:latin typeface="Calibri Light"/>
                <a:ea typeface="DejaVu Sans"/>
              </a:rPr>
              <a:t>Causal Inference in R</a:t>
            </a:r>
            <a:br>
              <a:rPr sz="3200"/>
            </a:br>
            <a:r>
              <a:rPr b="0" lang="en-US" sz="3200" spc="-1" strike="noStrike">
                <a:solidFill>
                  <a:srgbClr val="2e75b6"/>
                </a:solidFill>
                <a:latin typeface="Calibri Light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2e75b6"/>
                </a:solidFill>
                <a:latin typeface="Calibri Light"/>
                <a:ea typeface="DejaVu Sans"/>
              </a:rPr>
              <a:t>Temporal Causal Inference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7" name="Straight Connector 9"/>
          <p:cNvSpPr/>
          <p:nvPr/>
        </p:nvSpPr>
        <p:spPr>
          <a:xfrm>
            <a:off x="1870200" y="1215000"/>
            <a:ext cx="5760" cy="1259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88" name="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228600" y="1151280"/>
            <a:ext cx="1598400" cy="159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2192400" y="1022400"/>
            <a:ext cx="7335360" cy="173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005bbb"/>
                </a:solidFill>
                <a:latin typeface="Calibri Light"/>
                <a:ea typeface="DejaVu Sans"/>
              </a:rPr>
              <a:t>Causal Inference in R</a:t>
            </a:r>
            <a:br>
              <a:rPr sz="3200"/>
            </a:br>
            <a:r>
              <a:rPr b="0" lang="en-US" sz="3200" spc="-1" strike="noStrike">
                <a:solidFill>
                  <a:srgbClr val="2e75b6"/>
                </a:solidFill>
                <a:latin typeface="Calibri Light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2e75b6"/>
                </a:solidFill>
                <a:latin typeface="Calibri Light"/>
                <a:ea typeface="DejaVu Sans"/>
              </a:rPr>
              <a:t>Causal Machine Learning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0" name="Straight Connector 10"/>
          <p:cNvSpPr/>
          <p:nvPr/>
        </p:nvSpPr>
        <p:spPr>
          <a:xfrm>
            <a:off x="1870200" y="1215000"/>
            <a:ext cx="5760" cy="1259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91" name="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228600" y="1151280"/>
            <a:ext cx="1598400" cy="159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2192400" y="1022400"/>
            <a:ext cx="7335360" cy="173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2e75b6"/>
                </a:solidFill>
                <a:latin typeface="Calibri Light"/>
                <a:ea typeface="DejaVu Sans"/>
              </a:rPr>
              <a:t>Causal Machine Learning</a:t>
            </a:r>
            <a:br>
              <a:rPr sz="4800"/>
            </a:br>
            <a:r>
              <a:rPr b="0" lang="en-US" sz="4800" spc="-1" strike="noStrike">
                <a:solidFill>
                  <a:srgbClr val="005bbb"/>
                </a:solidFill>
                <a:latin typeface="Calibri Light"/>
                <a:ea typeface="DejaVu Sans"/>
              </a:rPr>
              <a:t>Causal Inference in R</a:t>
            </a:r>
            <a:br>
              <a:rPr sz="3200"/>
            </a:br>
            <a:r>
              <a:rPr b="0" lang="en-US" sz="3200" spc="-1" strike="noStrike">
                <a:solidFill>
                  <a:srgbClr val="2e75b6"/>
                </a:solidFill>
                <a:latin typeface="Calibri Light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2e75b6"/>
                </a:solidFill>
                <a:latin typeface="Calibri Light"/>
                <a:ea typeface="DejaVu Sans"/>
              </a:rPr>
              <a:t>Tree-Based Models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3" name="Straight Connector 11"/>
          <p:cNvSpPr/>
          <p:nvPr/>
        </p:nvSpPr>
        <p:spPr>
          <a:xfrm>
            <a:off x="1870200" y="1215000"/>
            <a:ext cx="5760" cy="1259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94" name="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228600" y="1151280"/>
            <a:ext cx="1598400" cy="159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2192400" y="1022400"/>
            <a:ext cx="7335360" cy="173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2e75b6"/>
                </a:solidFill>
                <a:latin typeface="Calibri Light"/>
                <a:ea typeface="DejaVu Sans"/>
              </a:rPr>
              <a:t>Causal Machine Learning</a:t>
            </a:r>
            <a:br>
              <a:rPr sz="4800"/>
            </a:br>
            <a:r>
              <a:rPr b="0" lang="en-US" sz="4800" spc="-1" strike="noStrike">
                <a:solidFill>
                  <a:srgbClr val="005bbb"/>
                </a:solidFill>
                <a:latin typeface="Calibri Light"/>
                <a:ea typeface="DejaVu Sans"/>
              </a:rPr>
              <a:t>Causal Inference in R</a:t>
            </a:r>
            <a:br>
              <a:rPr sz="3200"/>
            </a:br>
            <a:r>
              <a:rPr b="0" lang="en-US" sz="3200" spc="-1" strike="noStrike">
                <a:solidFill>
                  <a:srgbClr val="2e75b6"/>
                </a:solidFill>
                <a:latin typeface="Calibri Light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2e75b6"/>
                </a:solidFill>
                <a:latin typeface="Calibri Light"/>
                <a:ea typeface="DejaVu Sans"/>
              </a:rPr>
              <a:t>Meta-Learners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6" name="Straight Connector 12"/>
          <p:cNvSpPr/>
          <p:nvPr/>
        </p:nvSpPr>
        <p:spPr>
          <a:xfrm>
            <a:off x="1870200" y="1215000"/>
            <a:ext cx="5760" cy="1259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97" name="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228600" y="1151280"/>
            <a:ext cx="1598400" cy="159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2192400" y="1022400"/>
            <a:ext cx="7335360" cy="173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2e75b6"/>
                </a:solidFill>
                <a:latin typeface="Calibri Light"/>
                <a:ea typeface="DejaVu Sans"/>
              </a:rPr>
              <a:t>Causal Machine Learning</a:t>
            </a:r>
            <a:br>
              <a:rPr sz="4800"/>
            </a:br>
            <a:r>
              <a:rPr b="0" lang="en-US" sz="4800" spc="-1" strike="noStrike">
                <a:solidFill>
                  <a:srgbClr val="005bbb"/>
                </a:solidFill>
                <a:latin typeface="Calibri Light"/>
                <a:ea typeface="DejaVu Sans"/>
              </a:rPr>
              <a:t>Causal Inference in R</a:t>
            </a:r>
            <a:br>
              <a:rPr sz="3200"/>
            </a:br>
            <a:r>
              <a:rPr b="0" lang="en-US" sz="3200" spc="-1" strike="noStrike">
                <a:solidFill>
                  <a:srgbClr val="2e75b6"/>
                </a:solidFill>
                <a:latin typeface="Calibri Light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2e75b6"/>
                </a:solidFill>
                <a:latin typeface="Calibri Light"/>
                <a:ea typeface="DejaVu Sans"/>
              </a:rPr>
              <a:t>Uplift Learners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9" name="Straight Connector 13"/>
          <p:cNvSpPr/>
          <p:nvPr/>
        </p:nvSpPr>
        <p:spPr>
          <a:xfrm>
            <a:off x="1870200" y="1215000"/>
            <a:ext cx="5760" cy="1259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00" name="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228600" y="1151280"/>
            <a:ext cx="1598400" cy="159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2192400" y="1022400"/>
            <a:ext cx="7335360" cy="173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2e75b6"/>
                </a:solidFill>
                <a:latin typeface="Calibri Light"/>
                <a:ea typeface="DejaVu Sans"/>
              </a:rPr>
              <a:t>Causal Machine Learning</a:t>
            </a:r>
            <a:br>
              <a:rPr sz="4800"/>
            </a:br>
            <a:r>
              <a:rPr b="0" lang="en-US" sz="4800" spc="-1" strike="noStrike">
                <a:solidFill>
                  <a:srgbClr val="005bbb"/>
                </a:solidFill>
                <a:latin typeface="Calibri Light"/>
                <a:ea typeface="DejaVu Sans"/>
              </a:rPr>
              <a:t>Causal Inference in R</a:t>
            </a:r>
            <a:br>
              <a:rPr sz="3200"/>
            </a:br>
            <a:r>
              <a:rPr b="0" lang="en-US" sz="3200" spc="-1" strike="noStrike">
                <a:solidFill>
                  <a:srgbClr val="2e75b6"/>
                </a:solidFill>
                <a:latin typeface="Calibri Light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2e75b6"/>
                </a:solidFill>
                <a:latin typeface="Calibri Light"/>
                <a:ea typeface="DejaVu Sans"/>
              </a:rPr>
              <a:t>Double/Debiased Machine Learning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2" name="Straight Connector 14"/>
          <p:cNvSpPr/>
          <p:nvPr/>
        </p:nvSpPr>
        <p:spPr>
          <a:xfrm>
            <a:off x="1870200" y="1215000"/>
            <a:ext cx="5760" cy="1259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03" name="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228600" y="1151280"/>
            <a:ext cx="1598400" cy="159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2192400" y="1022400"/>
            <a:ext cx="7335360" cy="173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2e75b6"/>
                </a:solidFill>
                <a:latin typeface="Calibri Light"/>
                <a:ea typeface="DejaVu Sans"/>
              </a:rPr>
              <a:t>Causal Machine Learning</a:t>
            </a:r>
            <a:br>
              <a:rPr sz="4800"/>
            </a:br>
            <a:r>
              <a:rPr b="0" lang="en-US" sz="4800" spc="-1" strike="noStrike">
                <a:solidFill>
                  <a:srgbClr val="005bbb"/>
                </a:solidFill>
                <a:latin typeface="Calibri Light"/>
                <a:ea typeface="DejaVu Sans"/>
              </a:rPr>
              <a:t>Causal Inference in R</a:t>
            </a:r>
            <a:br>
              <a:rPr sz="3200"/>
            </a:br>
            <a:r>
              <a:rPr b="0" lang="en-US" sz="3200" spc="-1" strike="noStrike">
                <a:solidFill>
                  <a:srgbClr val="2e75b6"/>
                </a:solidFill>
                <a:latin typeface="Calibri Light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2e75b6"/>
                </a:solidFill>
                <a:latin typeface="Calibri Light"/>
                <a:ea typeface="DejaVu Sans"/>
              </a:rPr>
              <a:t>Deep Causal Learning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5" name="Straight Connector 15"/>
          <p:cNvSpPr/>
          <p:nvPr/>
        </p:nvSpPr>
        <p:spPr>
          <a:xfrm>
            <a:off x="1870200" y="1215000"/>
            <a:ext cx="5760" cy="1259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06" name="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228600" y="1151280"/>
            <a:ext cx="1598400" cy="159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2192400" y="1022400"/>
            <a:ext cx="7335360" cy="173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2e75b6"/>
                </a:solidFill>
                <a:latin typeface="Calibri Light"/>
                <a:ea typeface="DejaVu Sans"/>
              </a:rPr>
              <a:t>Deep Causal Learning</a:t>
            </a:r>
            <a:br>
              <a:rPr sz="4800"/>
            </a:br>
            <a:r>
              <a:rPr b="0" lang="en-US" sz="4800" spc="-1" strike="noStrike">
                <a:solidFill>
                  <a:srgbClr val="005bbb"/>
                </a:solidFill>
                <a:latin typeface="Calibri Light"/>
                <a:ea typeface="DejaVu Sans"/>
              </a:rPr>
              <a:t>Causal Inference in R</a:t>
            </a:r>
            <a:br>
              <a:rPr sz="3200"/>
            </a:br>
            <a:r>
              <a:rPr b="0" lang="en-US" sz="3200" spc="-1" strike="noStrike">
                <a:solidFill>
                  <a:srgbClr val="2e75b6"/>
                </a:solidFill>
                <a:latin typeface="Calibri Light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2e75b6"/>
                </a:solidFill>
                <a:latin typeface="Calibri Light"/>
                <a:ea typeface="DejaVu Sans"/>
              </a:rPr>
              <a:t>Treatment Effect Estimators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8" name="Straight Connector 16"/>
          <p:cNvSpPr/>
          <p:nvPr/>
        </p:nvSpPr>
        <p:spPr>
          <a:xfrm>
            <a:off x="1870200" y="1215000"/>
            <a:ext cx="5760" cy="1259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4572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09" name="" descr=""/>
          <p:cNvPicPr/>
          <p:nvPr/>
        </p:nvPicPr>
        <p:blipFill>
          <a:blip r:embed="rId1"/>
          <a:srcRect l="10879" t="12493" r="1601" b="446"/>
          <a:stretch/>
        </p:blipFill>
        <p:spPr>
          <a:xfrm>
            <a:off x="228600" y="1151280"/>
            <a:ext cx="1598400" cy="159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401</TotalTime>
  <Application>LibreOffice/7.3.7.2$Linux_X86_64 LibreOffice_project/30$Build-2</Application>
  <AppVersion>15.0000</AppVersion>
  <Company>University at Buffalo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2022-12-13T22:28:50Z</dcterms:created>
  <dc:creator>Zia Ahmed</dc:creator>
  <dc:description/>
  <dc:language>en-US</dc:language>
  <cp:lastModifiedBy/>
  <dcterms:modified xsi:type="dcterms:W3CDTF">2026-06-11T00:19:10Z</dcterms:modified>
  <cp:revision>28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r8>8</vt:r8>
  </property>
</Properties>
</file>